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promise: Smart Dossier turns property-related procedures into a clear, trackable digital workflow.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citizen and business flow: submit, keep the code, track the status and know the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from the public flow to operations: the queue helps staff decide what needs attention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show traceability: status, phase and responsibility are visible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Reports are the executive view: they show where time is lost and what should be handled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product story: a clear start for the public, a clear queue for staff and clear reporting for managers.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8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5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18120" y="0"/>
            <a:ext cx="4370832" cy="6858000"/>
          </a:xfrm>
          <a:prstGeom prst="rect">
            <a:avLst/>
          </a:prstGeom>
          <a:solidFill>
            <a:srgbClr val="0E4385">
              <a:alpha val="9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6035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SMART DOSSIER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394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Property services,</a:t>
            </a:r>
            <a:endParaRPr lang="en-US" sz="5000" dirty="0"/>
          </a:p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made clear.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66928" y="3694176"/>
            <a:ext cx="5166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DD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digital workspace for applications, case tracking, operational queues and management reporting.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882896"/>
            <a:ext cx="4526280" cy="658368"/>
          </a:xfrm>
          <a:prstGeom prst="roundRect">
            <a:avLst>
              <a:gd name="adj" fmla="val 16667"/>
            </a:avLst>
          </a:prstGeom>
          <a:solidFill>
            <a:srgbClr val="123F7E"/>
          </a:solidFill>
          <a:ln w="12700">
            <a:solidFill>
              <a:srgbClr val="315F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0932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for citizens, businesses, operators and administrators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586984" y="740664"/>
            <a:ext cx="6016752" cy="3355848"/>
          </a:xfrm>
          <a:prstGeom prst="roundRect">
            <a:avLst>
              <a:gd name="adj" fmla="val 3815"/>
            </a:avLst>
          </a:prstGeom>
          <a:solidFill>
            <a:srgbClr val="FFFFFF"/>
          </a:solidFill>
          <a:ln w="12700">
            <a:solidFill>
              <a:srgbClr val="AFC8EA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10" name="Image 0" descr="Applicatio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2704" y="786384"/>
            <a:ext cx="5925312" cy="32644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943600" y="4270248"/>
            <a:ext cx="5376672" cy="2816352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AFC8EA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12" name="Image 1" descr="Dossier queue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4315968"/>
            <a:ext cx="5285232" cy="2724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D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SERVICE JOURNEY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323015" y="29260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58368"/>
            <a:ext cx="11057839" cy="0"/>
          </a:xfrm>
          <a:prstGeom prst="line">
            <a:avLst/>
          </a:prstGeom>
          <a:noFill/>
          <a:ln w="12700">
            <a:solidFill>
              <a:srgbClr val="BBD2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96012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guided path from request to status.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16276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applicant submits the request, receives a tracking code and follows the next step without calling the office.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2648" y="2167128"/>
            <a:ext cx="5623560" cy="3145536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12700">
            <a:solidFill>
              <a:srgbClr val="AFC8EA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8" name="Image 0" descr="Application fo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212848"/>
            <a:ext cx="5532120" cy="305409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92240" y="2167128"/>
            <a:ext cx="4828032" cy="1609344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12700">
            <a:solidFill>
              <a:srgbClr val="AFC8EA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10" name="Image 1" descr="Public tracking stat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212848"/>
            <a:ext cx="4736592" cy="151790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37960" y="4096512"/>
            <a:ext cx="4736592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12700">
            <a:solidFill>
              <a:srgbClr val="BBD2F0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858000" y="43891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for non-experts</a:t>
            </a:r>
            <a:endParaRPr lang="en-US" sz="2500" dirty="0"/>
          </a:p>
        </p:txBody>
      </p:sp>
      <p:sp>
        <p:nvSpPr>
          <p:cNvPr id="13" name="Text 9"/>
          <p:cNvSpPr/>
          <p:nvPr/>
        </p:nvSpPr>
        <p:spPr>
          <a:xfrm>
            <a:off x="6858000" y="480060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Application, documents and tracking are separated into clear steps.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41248" y="5669280"/>
            <a:ext cx="10652760" cy="530352"/>
          </a:xfrm>
          <a:prstGeom prst="roundRect">
            <a:avLst>
              <a:gd name="adj" fmla="val 20690"/>
            </a:avLst>
          </a:prstGeom>
          <a:solidFill>
            <a:srgbClr val="06285A"/>
          </a:solidFill>
          <a:ln w="12700">
            <a:solidFill>
              <a:srgbClr val="06285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78992" y="5852160"/>
            <a:ext cx="10149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Result: fewer unclear visits, fewer missing documents and a visible case status.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D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OPERATOR WORKSPACE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323015" y="29260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58368"/>
            <a:ext cx="11057839" cy="0"/>
          </a:xfrm>
          <a:prstGeom prst="line">
            <a:avLst/>
          </a:prstGeom>
          <a:noFill/>
          <a:ln w="12700">
            <a:solidFill>
              <a:srgbClr val="BBD2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96012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 queue that shows priorities first.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16276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Cases are grouped by phase, status, deadline and responsibility.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2648" y="2011680"/>
            <a:ext cx="7726680" cy="4279392"/>
          </a:xfrm>
          <a:prstGeom prst="roundRect">
            <a:avLst>
              <a:gd name="adj" fmla="val 2991"/>
            </a:avLst>
          </a:prstGeom>
          <a:solidFill>
            <a:srgbClr val="FFFFFF"/>
          </a:solidFill>
          <a:ln w="12700">
            <a:solidFill>
              <a:srgbClr val="AFC8EA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8" name="Image 0" descr="Dossier categories and board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7400"/>
            <a:ext cx="7635240" cy="41879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13648" y="2057400"/>
            <a:ext cx="2926080" cy="4187952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BBD2F0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887968" y="235915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team sees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887968" y="30632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E8D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3100" dirty="0"/>
          </a:p>
        </p:txBody>
      </p:sp>
      <p:sp>
        <p:nvSpPr>
          <p:cNvPr id="12" name="Text 9"/>
          <p:cNvSpPr/>
          <p:nvPr/>
        </p:nvSpPr>
        <p:spPr>
          <a:xfrm>
            <a:off x="9601200" y="31821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cases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887968" y="385876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B31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3100" dirty="0"/>
          </a:p>
        </p:txBody>
      </p:sp>
      <p:sp>
        <p:nvSpPr>
          <p:cNvPr id="14" name="Text 11"/>
          <p:cNvSpPr/>
          <p:nvPr/>
        </p:nvSpPr>
        <p:spPr>
          <a:xfrm>
            <a:off x="9601200" y="39776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 attention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887968" y="46542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3100" dirty="0"/>
          </a:p>
        </p:txBody>
      </p:sp>
      <p:sp>
        <p:nvSpPr>
          <p:cNvPr id="16" name="Text 13"/>
          <p:cNvSpPr/>
          <p:nvPr/>
        </p:nvSpPr>
        <p:spPr>
          <a:xfrm>
            <a:off x="9601200" y="47731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priority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887968" y="544982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12B8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3100" dirty="0"/>
          </a:p>
        </p:txBody>
      </p:sp>
      <p:sp>
        <p:nvSpPr>
          <p:cNvPr id="18" name="Text 15"/>
          <p:cNvSpPr/>
          <p:nvPr/>
        </p:nvSpPr>
        <p:spPr>
          <a:xfrm>
            <a:off x="9601200" y="55686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unassigned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D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PROGRESS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323015" y="29260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58368"/>
            <a:ext cx="11057839" cy="0"/>
          </a:xfrm>
          <a:prstGeom prst="line">
            <a:avLst/>
          </a:prstGeom>
          <a:noFill/>
          <a:ln w="12700">
            <a:solidFill>
              <a:srgbClr val="BBD2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96012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case has a visible timeline.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16276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team can see the current phase, upcoming institution and progress toward completion.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8368" y="214884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D2F0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2404872"/>
            <a:ext cx="10588752" cy="102412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AFC8EA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9" name="Image 0" descr="Case time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450592"/>
            <a:ext cx="10497312" cy="93268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58368" y="4160520"/>
            <a:ext cx="3337560" cy="1234440"/>
          </a:xfrm>
          <a:prstGeom prst="roundRect">
            <a:avLst>
              <a:gd name="adj" fmla="val 8889"/>
            </a:avLst>
          </a:prstGeom>
          <a:solidFill>
            <a:srgbClr val="DCEEFF"/>
          </a:solidFill>
          <a:ln w="12700">
            <a:solidFill>
              <a:srgbClr val="BBD2F0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32688" y="44439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628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phase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932688" y="48463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submitted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61688" y="4160520"/>
            <a:ext cx="33375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BD2F0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636008" y="44439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check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636008" y="48463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verification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065008" y="4160520"/>
            <a:ext cx="33375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BD2F0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339328" y="444398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Responsible body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48463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Assigned institution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960120" y="5925312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28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value is simple: everyone talks about the same case, the same phase and the same next step.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926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8D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REPORTING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323015" y="292608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58368"/>
            <a:ext cx="11057839" cy="0"/>
          </a:xfrm>
          <a:prstGeom prst="line">
            <a:avLst/>
          </a:prstGeom>
          <a:noFill/>
          <a:ln w="12700">
            <a:solidFill>
              <a:srgbClr val="BBD2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96012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 turn daily work into decisions.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162763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Managers see risk, deadlines, workload and bottlenecks without opening every case.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2648" y="2011680"/>
            <a:ext cx="7086600" cy="3547872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2700">
            <a:solidFill>
              <a:srgbClr val="AFC8EA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8" name="Image 0" descr="Operational repo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57400"/>
            <a:ext cx="6995160" cy="34564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028432" y="2057400"/>
            <a:ext cx="3520440" cy="3456432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 w="12700">
            <a:solidFill>
              <a:srgbClr val="BBD2F0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321040" y="23957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Signals for action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8321040" y="3054096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EB31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3100" dirty="0"/>
          </a:p>
        </p:txBody>
      </p:sp>
      <p:sp>
        <p:nvSpPr>
          <p:cNvPr id="12" name="Text 9"/>
          <p:cNvSpPr/>
          <p:nvPr/>
        </p:nvSpPr>
        <p:spPr>
          <a:xfrm>
            <a:off x="9034272" y="31729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risk or waiting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321040" y="384048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3100" dirty="0"/>
          </a:p>
        </p:txBody>
      </p:sp>
      <p:sp>
        <p:nvSpPr>
          <p:cNvPr id="14" name="Text 11"/>
          <p:cNvSpPr/>
          <p:nvPr/>
        </p:nvSpPr>
        <p:spPr>
          <a:xfrm>
            <a:off x="9034272" y="39593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deadline alerts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321040" y="462686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E8D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3100" dirty="0"/>
          </a:p>
        </p:txBody>
      </p:sp>
      <p:sp>
        <p:nvSpPr>
          <p:cNvPr id="16" name="Text 13"/>
          <p:cNvSpPr/>
          <p:nvPr/>
        </p:nvSpPr>
        <p:spPr>
          <a:xfrm>
            <a:off x="9034272" y="47457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6F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operator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58368" y="5797296"/>
            <a:ext cx="10881360" cy="502920"/>
          </a:xfrm>
          <a:prstGeom prst="roundRect">
            <a:avLst>
              <a:gd name="adj" fmla="val 21818"/>
            </a:avLst>
          </a:prstGeom>
          <a:solidFill>
            <a:srgbClr val="06285A"/>
          </a:solidFill>
          <a:ln w="12700">
            <a:solidFill>
              <a:srgbClr val="06285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32688" y="5971032"/>
            <a:ext cx="10332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dashboard makes the next management action obvious.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B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B3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2B8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STANDS OUT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1188720"/>
            <a:ext cx="5486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</a:t>
            </a:r>
            <a:endParaRPr lang="en-US" sz="5000" dirty="0"/>
          </a:p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story.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66928" y="26517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DD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public request to management visibility.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0" y="777240"/>
            <a:ext cx="5166360" cy="2880360"/>
          </a:xfrm>
          <a:prstGeom prst="roundRect">
            <a:avLst>
              <a:gd name="adj" fmla="val 4444"/>
            </a:avLst>
          </a:prstGeom>
          <a:solidFill>
            <a:srgbClr val="103D7E"/>
          </a:solidFill>
          <a:ln w="12700">
            <a:solidFill>
              <a:srgbClr val="315F9C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7" name="Image 0" descr="Application p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822960"/>
            <a:ext cx="5074920" cy="2788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66560" y="3995928"/>
            <a:ext cx="4407408" cy="2221992"/>
          </a:xfrm>
          <a:prstGeom prst="roundRect">
            <a:avLst>
              <a:gd name="adj" fmla="val 5761"/>
            </a:avLst>
          </a:prstGeom>
          <a:solidFill>
            <a:srgbClr val="103D7E"/>
          </a:solidFill>
          <a:ln w="12700">
            <a:solidFill>
              <a:srgbClr val="315F9C"/>
            </a:solidFill>
            <a:prstDash val="solid"/>
          </a:ln>
          <a:effectLst>
            <a:outerShdw sx="100000" sy="100000" kx="0" ky="0" algn="bl" rotWithShape="0" blurRad="12700" dist="50800" dir="2700000">
              <a:srgbClr val="C4D6EE">
                <a:alpha val="20000"/>
              </a:srgbClr>
            </a:outerShdw>
          </a:effectLst>
        </p:spPr>
      </p:sp>
      <p:pic>
        <p:nvPicPr>
          <p:cNvPr id="9" name="Image 1" descr="Reports previe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4041648"/>
            <a:ext cx="4315968" cy="21305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33375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B8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097280" y="33192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public access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1097280" y="366674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FE1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Citizens and businesses know where to start.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566928" y="40873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B8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097280" y="40690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clarity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097280" y="441655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FE1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Staff see priority, status and ownership.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66928" y="483717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B88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097280" y="481888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confidence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1097280" y="516636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CFE1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Leadership sees risk and deadlines clearly.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566928" y="5815584"/>
            <a:ext cx="5102352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2960" y="6007608"/>
            <a:ext cx="4617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28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flow: Apply -&gt; Track -&gt; Process -&gt; Report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Smart Dossier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Dossier - property dossier platform</dc:title>
  <dc:subject>Hackathon jury presentation</dc:subject>
  <dc:creator>Smart Dossier</dc:creator>
  <cp:lastModifiedBy>Smart Dossier</cp:lastModifiedBy>
  <cp:revision>1</cp:revision>
  <dcterms:created xsi:type="dcterms:W3CDTF">2026-06-20T21:08:42Z</dcterms:created>
  <dcterms:modified xsi:type="dcterms:W3CDTF">2026-06-20T21:08:42Z</dcterms:modified>
</cp:coreProperties>
</file>